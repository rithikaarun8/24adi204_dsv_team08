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85800"/>
            <a:ext cx="109728" cy="530352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27080" y="731520"/>
            <a:ext cx="502920" cy="1280160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69880" y="5394960"/>
            <a:ext cx="960120" cy="164592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51560"/>
            <a:ext cx="9509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BLACK FRIDAY</a:t>
            </a:r>
            <a:br/>
            <a:r>
              <a:t>LOGISTIC NIGHTMARE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CDD8E8"/>
                </a:solidFill>
              </a:defRPr>
            </a:pPr>
            <a:r>
              <a:t>A Data-Driven Analysis of Black Friday 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94760"/>
            <a:ext cx="5943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Neha O T  •  25BAD065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Nitharshana S  •  25BAD071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Rithika A M  •  25BAD088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</a:defRPr>
            </a:pPr>
            <a:r>
              <a:t>Shubiksha S Y  •  25BAD106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Why Black Friday becomes a logistics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82880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Demand Surge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A sudden increase in orders creates pressure across the supply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00200"/>
            <a:ext cx="73152" cy="1828800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8308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Inventory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58568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Fast-moving products can become unavailable while stock is being replenished.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73152" cy="1828800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Delivery Bottlenecks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58568"/>
            <a:ext cx="2880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Large order volumes can overload warehouses and transportation networks.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06040" y="3886200"/>
            <a:ext cx="3291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6040" y="3886200"/>
            <a:ext cx="73152" cy="1645920"/>
          </a:xfrm>
          <a:prstGeom prst="rect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06908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Cost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54456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Extra handling, storage and transportation can increase operating costs.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3291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73152" cy="164592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06908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Core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44568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How can data help retailers anticipate and manage these challenges?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What the project aims to discover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6"/>
                </a:solidFill>
              </a:defRPr>
            </a:pPr>
            <a:r>
              <a:t>• Understand Black Friday customer purchasing patterns.</a:t>
            </a:r>
          </a:p>
          <a:p>
            <a:pPr>
              <a:spcAft>
                <a:spcPts val="1300"/>
              </a:spcAft>
              <a:defRPr sz="1900">
                <a:solidFill>
                  <a:srgbClr val="232A36"/>
                </a:solidFill>
              </a:defRPr>
            </a:pPr>
            <a:r>
              <a:t>• Identify high-demand products and categories.</a:t>
            </a:r>
          </a:p>
          <a:p>
            <a:pPr>
              <a:spcAft>
                <a:spcPts val="1300"/>
              </a:spcAft>
              <a:defRPr sz="1900">
                <a:solidFill>
                  <a:srgbClr val="232A36"/>
                </a:solidFill>
              </a:defRPr>
            </a:pPr>
            <a:r>
              <a:t>• Examine sales and customer characteristics.</a:t>
            </a:r>
          </a:p>
          <a:p>
            <a:pPr>
              <a:spcAft>
                <a:spcPts val="1300"/>
              </a:spcAft>
              <a:defRPr sz="1900">
                <a:solidFill>
                  <a:srgbClr val="232A36"/>
                </a:solidFill>
              </a:defRPr>
            </a:pPr>
            <a:r>
              <a:t>• Detect patterns that may create inventory and logistics pressure.</a:t>
            </a:r>
          </a:p>
          <a:p>
            <a:pPr>
              <a:spcAft>
                <a:spcPts val="1300"/>
              </a:spcAft>
              <a:defRPr sz="1900">
                <a:solidFill>
                  <a:srgbClr val="232A36"/>
                </a:solidFill>
              </a:defRPr>
            </a:pPr>
            <a:r>
              <a:t>• Generate data-driven insights for better preparation.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Areas covered by the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600200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Customer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Purchase behavior, age, gender and city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600200"/>
            <a:ext cx="73152" cy="160020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Product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585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Popular products and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1600200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40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Sales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159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Purchase-value distribution and trends.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6576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657600"/>
            <a:ext cx="73152" cy="1600200"/>
          </a:xfrm>
          <a:prstGeom prst="rect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84048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Logistics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315968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Potential inventory and delivery pressure points.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Dataset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Black Friday customer purchase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08760"/>
          <a:ext cx="6766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</a:tblGrid>
              <a:tr h="4978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Attribute</a:t>
                      </a:r>
                    </a:p>
                  </a:txBody>
                  <a:tcPr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1B2D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Unique customer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Product_ID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Unique product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Product_Category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Product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Purchase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Purchase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Customer demographic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Customer age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City_Category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Customer location 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Occupation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A36"/>
                          </a:solidFill>
                        </a:defRPr>
                      </a:pPr>
                      <a:r>
                        <a:t>Customer occupation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645920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645920"/>
            <a:ext cx="73152" cy="3566160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Dataset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04288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The dataset allows us to connect customer demand and purchasing patterns with possible logistics pressure during a high-volume sales event.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Step-by-step data analysis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1" y="1828800"/>
            <a:ext cx="685800" cy="685800"/>
          </a:xfrm>
          <a:prstGeom prst="ellipse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Chevron 6"/>
          <p:cNvSpPr/>
          <p:nvPr/>
        </p:nvSpPr>
        <p:spPr>
          <a:xfrm>
            <a:off x="1737360" y="2029968"/>
            <a:ext cx="640080" cy="274320"/>
          </a:xfrm>
          <a:prstGeom prst="chevron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B2D"/>
                </a:solidFill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487"/>
                </a:solidFill>
              </a:defRPr>
            </a:pPr>
            <a:r>
              <a:t>Dataset</a:t>
            </a:r>
          </a:p>
        </p:txBody>
      </p:sp>
      <p:sp>
        <p:nvSpPr>
          <p:cNvPr id="10" name="Oval 9"/>
          <p:cNvSpPr/>
          <p:nvPr/>
        </p:nvSpPr>
        <p:spPr>
          <a:xfrm>
            <a:off x="2953512" y="1828800"/>
            <a:ext cx="685800" cy="685800"/>
          </a:xfrm>
          <a:prstGeom prst="ellipse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Chevron 10"/>
          <p:cNvSpPr/>
          <p:nvPr/>
        </p:nvSpPr>
        <p:spPr>
          <a:xfrm>
            <a:off x="3657600" y="2029968"/>
            <a:ext cx="640080" cy="274320"/>
          </a:xfrm>
          <a:prstGeom prst="chevron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697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B2D"/>
                </a:solidFill>
              </a:defRPr>
            </a:pPr>
            <a:r>
              <a:t>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15468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487"/>
                </a:solidFill>
              </a:defRPr>
            </a:pPr>
            <a:r>
              <a:t>Missing &amp; duplicate data</a:t>
            </a:r>
          </a:p>
        </p:txBody>
      </p:sp>
      <p:sp>
        <p:nvSpPr>
          <p:cNvPr id="14" name="Oval 13"/>
          <p:cNvSpPr/>
          <p:nvPr/>
        </p:nvSpPr>
        <p:spPr>
          <a:xfrm>
            <a:off x="4873752" y="1828800"/>
            <a:ext cx="685800" cy="685800"/>
          </a:xfrm>
          <a:prstGeom prst="ellipse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Chevron 14"/>
          <p:cNvSpPr/>
          <p:nvPr/>
        </p:nvSpPr>
        <p:spPr>
          <a:xfrm>
            <a:off x="5577840" y="2029968"/>
            <a:ext cx="640080" cy="274320"/>
          </a:xfrm>
          <a:prstGeom prst="chevron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B2D"/>
                </a:solidFill>
              </a:defRPr>
            </a:pPr>
            <a: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15468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487"/>
                </a:solidFill>
              </a:defRPr>
            </a:pPr>
            <a:r>
              <a:t>EDA &amp; distributions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793992" y="1828800"/>
            <a:ext cx="685800" cy="685800"/>
          </a:xfrm>
          <a:prstGeom prst="ellipse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Chevron 18"/>
          <p:cNvSpPr/>
          <p:nvPr/>
        </p:nvSpPr>
        <p:spPr>
          <a:xfrm>
            <a:off x="7498080" y="2029968"/>
            <a:ext cx="640080" cy="274320"/>
          </a:xfrm>
          <a:prstGeom prst="chevron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697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B2D"/>
                </a:solidFill>
              </a:defRPr>
            </a:pPr>
            <a: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15468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487"/>
                </a:solidFill>
              </a:defRPr>
            </a:pPr>
            <a:r>
              <a:t>Demand &amp; products</a:t>
            </a:r>
          </a:p>
        </p:txBody>
      </p:sp>
      <p:sp>
        <p:nvSpPr>
          <p:cNvPr id="22" name="Oval 21"/>
          <p:cNvSpPr/>
          <p:nvPr/>
        </p:nvSpPr>
        <p:spPr>
          <a:xfrm>
            <a:off x="8714232" y="1828800"/>
            <a:ext cx="685800" cy="685800"/>
          </a:xfrm>
          <a:prstGeom prst="ellipse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Chevron 22"/>
          <p:cNvSpPr/>
          <p:nvPr/>
        </p:nvSpPr>
        <p:spPr>
          <a:xfrm>
            <a:off x="9418320" y="2029968"/>
            <a:ext cx="640080" cy="274320"/>
          </a:xfrm>
          <a:prstGeom prst="chevron">
            <a:avLst/>
          </a:prstGeom>
          <a:solidFill>
            <a:srgbClr val="BEC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697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B2D"/>
                </a:solidFill>
              </a:defRPr>
            </a:pPr>
            <a:r>
              <a:t>Identify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15468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487"/>
                </a:solidFill>
              </a:defRPr>
            </a:pPr>
            <a:r>
              <a:t>Logistics pressure</a:t>
            </a:r>
          </a:p>
        </p:txBody>
      </p:sp>
      <p:sp>
        <p:nvSpPr>
          <p:cNvPr id="26" name="Oval 25"/>
          <p:cNvSpPr/>
          <p:nvPr/>
        </p:nvSpPr>
        <p:spPr>
          <a:xfrm>
            <a:off x="10634472" y="1828800"/>
            <a:ext cx="685800" cy="685800"/>
          </a:xfrm>
          <a:prstGeom prst="ellipse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69748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B2D"/>
                </a:solidFill>
              </a:defRPr>
            </a:pPr>
            <a:r>
              <a:t>Conclude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15468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7487"/>
                </a:solidFill>
              </a:defRPr>
            </a:pPr>
            <a:r>
              <a:t>Insights &amp;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Results – Data Cleaning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Understanding the data before drawing 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737360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Clean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Missing values, duplicates and inconsistent entries are checked and handled.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73152" cy="173736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Purchase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12848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The distribution shows how customer spending is spread across the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1737360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37360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Customer Patterns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12848"/>
            <a:ext cx="2971800" cy="914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Age, gender and city categories reveal differences in purchasing behavior.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6"/>
                </a:solidFill>
              </a:defRPr>
            </a:pPr>
            <a:r>
              <a:t>• Result: the cleaned dataset becomes suitable for reliable exploratory analysis.</a:t>
            </a:r>
          </a:p>
          <a:p>
            <a:pPr>
              <a:spcAft>
                <a:spcPts val="1300"/>
              </a:spcAft>
              <a:defRPr sz="1700">
                <a:solidFill>
                  <a:srgbClr val="232A36"/>
                </a:solidFill>
              </a:defRPr>
            </a:pPr>
            <a:r>
              <a:t>• EDA highlights where demand is concentrated and which variables need deeper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Results –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Finding where Black Friday demand is concentrated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54480"/>
            <a:ext cx="548640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3858768"/>
            <a:ext cx="438912" cy="1307592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5321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7487"/>
                </a:solidFill>
              </a:defRPr>
            </a:pPr>
            <a:r>
              <a:t>Cat A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3145536"/>
            <a:ext cx="438912" cy="2020824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7" y="5321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7487"/>
                </a:solidFill>
              </a:defRPr>
            </a:pPr>
            <a:r>
              <a:t>Cat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16936" y="2670048"/>
            <a:ext cx="438912" cy="2496312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5321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7487"/>
                </a:solidFill>
              </a:defRPr>
            </a:pPr>
            <a:r>
              <a:t>Cat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66744" y="3502152"/>
            <a:ext cx="438912" cy="1664207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5321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7487"/>
                </a:solidFill>
              </a:defRPr>
            </a:pPr>
            <a:r>
              <a:t>Cat 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2313432"/>
            <a:ext cx="438912" cy="2852928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5321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7487"/>
                </a:solidFill>
              </a:defRPr>
            </a:pPr>
            <a:r>
              <a:t>Cat 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59" y="2967228"/>
            <a:ext cx="438912" cy="2199132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532180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97487"/>
                </a:solidFill>
              </a:defRPr>
            </a:pPr>
            <a:r>
              <a:t>Cat 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1600200"/>
            <a:ext cx="4389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1600200"/>
            <a:ext cx="73152" cy="150876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1783080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High-Demand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258568"/>
            <a:ext cx="397763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A small number of categories can account for a large share of customer demand.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383280"/>
            <a:ext cx="4389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383280"/>
            <a:ext cx="73152" cy="1508760"/>
          </a:xfrm>
          <a:prstGeom prst="rect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3566160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Logistics Meaning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041648"/>
            <a:ext cx="397763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High-demand categories require stronger inventory availability and faster replenishment.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Results – Customer &amp; Product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Patterns that matter for logistics 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Different customer groups show different purchasing behavior.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Popular products can create sudden spikes in order volume.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City categories can indicate where demand is geographically concentrated.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Purchase-value patterns help estimate the scale of order activity.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These patterns can be used to prioritize inventory and fulfillment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Results – Logistics 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Connecting data patterns to the Black Friday 'nightmare'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0876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08760"/>
            <a:ext cx="73152" cy="7498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691639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Demand Spike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6712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10" name="Chevron 9"/>
          <p:cNvSpPr/>
          <p:nvPr/>
        </p:nvSpPr>
        <p:spPr>
          <a:xfrm>
            <a:off x="5440680" y="1709928"/>
            <a:ext cx="594360" cy="347472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73152" cy="7498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39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Inventory shortage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6712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15" name="Rounded Rectangle 14"/>
          <p:cNvSpPr/>
          <p:nvPr/>
        </p:nvSpPr>
        <p:spPr>
          <a:xfrm>
            <a:off x="914400" y="251460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514600"/>
            <a:ext cx="73152" cy="749808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697480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Order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7296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19" name="Chevron 18"/>
          <p:cNvSpPr/>
          <p:nvPr/>
        </p:nvSpPr>
        <p:spPr>
          <a:xfrm>
            <a:off x="5440680" y="2715768"/>
            <a:ext cx="594360" cy="347472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51460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514600"/>
            <a:ext cx="73152" cy="749808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697480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Warehouse overload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7296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24" name="Rounded Rectangle 23"/>
          <p:cNvSpPr/>
          <p:nvPr/>
        </p:nvSpPr>
        <p:spPr>
          <a:xfrm>
            <a:off x="914400" y="352044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520440"/>
            <a:ext cx="73152" cy="749808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3703320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Fast-Moving 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17880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28" name="Chevron 27"/>
          <p:cNvSpPr/>
          <p:nvPr/>
        </p:nvSpPr>
        <p:spPr>
          <a:xfrm>
            <a:off x="5440680" y="3721608"/>
            <a:ext cx="594360" cy="347472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352044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520440"/>
            <a:ext cx="73152" cy="749808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703320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Replenishment 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17880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33" name="Rounded Rectangle 32"/>
          <p:cNvSpPr/>
          <p:nvPr/>
        </p:nvSpPr>
        <p:spPr>
          <a:xfrm>
            <a:off x="914400" y="452628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526280"/>
            <a:ext cx="73152" cy="749808"/>
          </a:xfrm>
          <a:prstGeom prst="rect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709160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Large Delivery 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18464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37" name="Chevron 36"/>
          <p:cNvSpPr/>
          <p:nvPr/>
        </p:nvSpPr>
        <p:spPr>
          <a:xfrm>
            <a:off x="5440680" y="4727448"/>
            <a:ext cx="594360" cy="347472"/>
          </a:xfrm>
          <a:prstGeom prst="chevron">
            <a:avLst/>
          </a:prstGeom>
          <a:solidFill>
            <a:srgbClr val="B4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7920" y="4526280"/>
            <a:ext cx="42976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526280"/>
            <a:ext cx="73152" cy="749808"/>
          </a:xfrm>
          <a:prstGeom prst="rect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709160"/>
            <a:ext cx="3886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Transportation bottlenecks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184648"/>
            <a:ext cx="3886200" cy="-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Expected Final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What the project should deliver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2926080"/>
          </a:xfrm>
          <a:prstGeom prst="rect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Demand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Know what customers are likely to buy.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73152" cy="2926080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Inventory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487168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Prepare sufficient stock for high-demand items.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73152" cy="2926080"/>
          </a:xfrm>
          <a:prstGeom prst="rect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Faster Fulfillment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87168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Reduce pressure on warehouses and delivery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828800"/>
            <a:ext cx="25146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1828800"/>
            <a:ext cx="73152" cy="2926080"/>
          </a:xfrm>
          <a:prstGeom prst="rect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01168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Data-Driven Decisions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487168"/>
            <a:ext cx="2103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Use evidence instead of guesswork during peak sales.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21B2D"/>
                </a:solidFill>
              </a:defRPr>
            </a:pPr>
            <a:r>
              <a:t>Final Goal: Turn Black Friday demand data into actionable logistics insights.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1B2D"/>
                </a:solidFill>
              </a:defRPr>
            </a:pPr>
            <a: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487"/>
                </a:solidFill>
              </a:defRPr>
            </a:pPr>
            <a:r>
              <a:t>Roles across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417320"/>
            <a:ext cx="658368" cy="658368"/>
          </a:xfrm>
          <a:prstGeom prst="ellipse">
            <a:avLst/>
          </a:prstGeom>
          <a:solidFill>
            <a:srgbClr val="2A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8988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Neha O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8988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25BAD065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89888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6"/>
                </a:solidFill>
              </a:defRPr>
            </a:pPr>
            <a:r>
              <a:t>Dataset collection &amp; data cleaning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87752"/>
            <a:ext cx="658368" cy="658368"/>
          </a:xfrm>
          <a:prstGeom prst="ellipse">
            <a:avLst/>
          </a:prstGeom>
          <a:solidFill>
            <a:srgbClr val="36A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Nitharshana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25BAD071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6"/>
                </a:solidFill>
              </a:defRPr>
            </a:pPr>
            <a:r>
              <a:t>Exploratory data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758184"/>
            <a:ext cx="658368" cy="658368"/>
          </a:xfrm>
          <a:prstGeom prst="ellipse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3075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Rithika A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30752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25BAD088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30752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6"/>
                </a:solidFill>
              </a:defRPr>
            </a:pPr>
            <a:r>
              <a:t>Demand &amp; product analysis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28616"/>
            <a:ext cx="658368" cy="658368"/>
          </a:xfrm>
          <a:prstGeom prst="ellipse">
            <a:avLst/>
          </a:prstGeom>
          <a:solidFill>
            <a:srgbClr val="3A9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01183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B2D"/>
                </a:solidFill>
              </a:defRPr>
            </a:pPr>
            <a:r>
              <a:t>Shubiksha S 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01183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487"/>
                </a:solidFill>
              </a:defRPr>
            </a:pPr>
            <a:r>
              <a:t>25BAD106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01183"/>
            <a:ext cx="4572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6"/>
                </a:solidFill>
              </a:defRPr>
            </a:pPr>
            <a:r>
              <a:t>Results, documentation &amp;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48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914400" cy="64008"/>
          </a:xfrm>
          <a:prstGeom prst="rect">
            <a:avLst/>
          </a:prstGeom>
          <a:solidFill>
            <a:srgbClr val="EF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8686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Kaggle – Black Friday Dataset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Python Documentation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Pandas Documentation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NumPy Documentation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Matplotlib Documentation</a:t>
            </a:r>
          </a:p>
          <a:p>
            <a:pPr>
              <a:spcAft>
                <a:spcPts val="1300"/>
              </a:spcAft>
              <a:defRPr sz="1800">
                <a:solidFill>
                  <a:srgbClr val="232A36"/>
                </a:solidFill>
              </a:defRPr>
            </a:pPr>
            <a:r>
              <a:t>• Seaborn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57800"/>
            <a:ext cx="9601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36AEB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